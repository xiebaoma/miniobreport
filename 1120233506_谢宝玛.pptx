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72" r:id="rId3"/>
    <p:sldId id="256" r:id="rId4"/>
    <p:sldId id="257" r:id="rId5"/>
    <p:sldId id="258" r:id="rId6"/>
    <p:sldId id="259" r:id="rId7"/>
    <p:sldId id="260" r:id="rId8"/>
    <p:sldId id="261" r:id="rId9"/>
    <p:sldId id="266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image" Target="../media/image2.png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3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4.png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image" Target="../media/image5.png"/><Relationship Id="rId1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image" Target="../media/image6.png"/><Relationship Id="rId1" Type="http://schemas.openxmlformats.org/officeDocument/2006/relationships/tags" Target="../tags/tag8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7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8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image" Target="../media/image9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image" Target="../media/image10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参赛</a:t>
            </a:r>
            <a:r>
              <a:rPr lang="zh-CN" altLang="en-US"/>
              <a:t>结果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最终得分</a:t>
            </a:r>
            <a:r>
              <a:rPr lang="en-US" altLang="zh-CN"/>
              <a:t>160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2" descr="截屏2025-11-23 15.44.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30" y="2544445"/>
            <a:ext cx="9459595" cy="7061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关于分布式关系型数据库存算分离架构的</a:t>
            </a:r>
            <a:r>
              <a:rPr lang="zh-CN" altLang="zh-CN"/>
              <a:t>研究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——</a:t>
            </a:r>
            <a:r>
              <a:rPr lang="zh-CN" altLang="en-US"/>
              <a:t>以</a:t>
            </a:r>
            <a:r>
              <a:rPr lang="en-US" altLang="zh-CN"/>
              <a:t>PolarDB</a:t>
            </a:r>
            <a:r>
              <a:rPr lang="zh-CN" altLang="en-US"/>
              <a:t>为例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71370" y="5061585"/>
            <a:ext cx="8048625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zh-CN" altLang="en-US"/>
              <a:t>谢宝玛</a:t>
            </a:r>
            <a:r>
              <a:rPr lang="en-US" altLang="zh-CN"/>
              <a:t>	1120233506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存储</a:t>
            </a:r>
            <a:r>
              <a:rPr lang="zh-CN" altLang="en-US"/>
              <a:t>冗余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对于原生的</a:t>
            </a:r>
            <a:r>
              <a:rPr lang="en-US" altLang="zh-CN">
                <a:sym typeface="+mn-ea"/>
              </a:rPr>
              <a:t>mysql，</a:t>
            </a:r>
            <a:r>
              <a:rPr lang="zh-CN" altLang="en-US">
                <a:sym typeface="+mn-ea"/>
              </a:rPr>
              <a:t>每一个部署节点都需要一到两个的数据备份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以一个一主二从的集群为例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会有六分备份的数据</a:t>
            </a:r>
            <a:r>
              <a:rPr lang="en-US" altLang="zh-CN">
                <a:sym typeface="+mn-ea"/>
              </a:rPr>
              <a:t>。</a:t>
            </a:r>
            <a:endParaRPr lang="zh-CN" altLang="en-US"/>
          </a:p>
          <a:p>
            <a:r>
              <a:rPr lang="zh-CN" altLang="en-US"/>
              <a:t>数据</a:t>
            </a:r>
            <a:r>
              <a:rPr lang="zh-CN" altLang="en-US"/>
              <a:t>成本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冷数据占据了大量昂贵的在线存储</a:t>
            </a:r>
            <a:r>
              <a:rPr lang="en-US" altLang="zh-CN"/>
              <a:t>SSD, </a:t>
            </a:r>
            <a:r>
              <a:rPr lang="zh-CN" altLang="en-US"/>
              <a:t>单位数据成本高昂不下</a:t>
            </a:r>
            <a:endParaRPr lang="zh-CN" altLang="en-US"/>
          </a:p>
          <a:p>
            <a:r>
              <a:rPr lang="zh-CN" altLang="en-US"/>
              <a:t>主从</a:t>
            </a:r>
            <a:r>
              <a:rPr lang="zh-CN" altLang="en-US"/>
              <a:t>延迟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主从架构下</a:t>
            </a:r>
            <a:r>
              <a:rPr lang="en-US" altLang="zh-CN"/>
              <a:t>，</a:t>
            </a:r>
            <a:r>
              <a:rPr lang="zh-CN" altLang="en-US"/>
              <a:t>复制存在天然的</a:t>
            </a:r>
            <a:r>
              <a:rPr lang="zh-CN" altLang="en-US"/>
              <a:t>延迟</a:t>
            </a:r>
            <a:endParaRPr lang="zh-CN" altLang="en-US"/>
          </a:p>
          <a:p>
            <a:r>
              <a:rPr lang="zh-CN" altLang="en-US"/>
              <a:t>数据</a:t>
            </a:r>
            <a:r>
              <a:rPr lang="zh-CN" altLang="en-US"/>
              <a:t>恢复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从节点需要重新应用</a:t>
            </a:r>
            <a:r>
              <a:rPr lang="en-US" altLang="zh-CN"/>
              <a:t>binlog</a:t>
            </a:r>
            <a:r>
              <a:rPr lang="zh-CN" altLang="en-US"/>
              <a:t>才能恢复</a:t>
            </a:r>
            <a:r>
              <a:rPr lang="en-US" altLang="zh-CN"/>
              <a:t>，</a:t>
            </a:r>
            <a:r>
              <a:rPr lang="zh-CN" altLang="en-US"/>
              <a:t>时间长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调研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AWS/</a:t>
            </a:r>
            <a:r>
              <a:rPr lang="en-US" altLang="zh-CN"/>
              <a:t>Aurora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整体思路</a:t>
            </a:r>
            <a:r>
              <a:rPr lang="en-US" altLang="zh-CN"/>
              <a:t>: log is data</a:t>
            </a:r>
            <a:r>
              <a:rPr lang="zh-CN" altLang="en-US"/>
              <a:t>，</a:t>
            </a:r>
            <a:r>
              <a:rPr lang="en-US" altLang="zh-CN"/>
              <a:t>InnoDB</a:t>
            </a:r>
            <a:r>
              <a:rPr lang="zh-CN" altLang="en-US"/>
              <a:t>中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page</a:t>
            </a:r>
            <a:r>
              <a:rPr lang="zh-CN" altLang="en-US"/>
              <a:t>是</a:t>
            </a:r>
            <a:r>
              <a:rPr lang="en-US" altLang="zh-CN"/>
              <a:t>16KB</a:t>
            </a:r>
            <a:r>
              <a:rPr lang="zh-CN" altLang="en-US"/>
              <a:t>，而</a:t>
            </a:r>
            <a:r>
              <a:rPr lang="en-US" altLang="zh-CN"/>
              <a:t>redo</a:t>
            </a:r>
            <a:r>
              <a:rPr lang="zh-CN" altLang="en-US"/>
              <a:t>只记录了真实的数据变更，因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此，事务中</a:t>
            </a:r>
            <a:r>
              <a:rPr lang="en-US" altLang="zh-CN"/>
              <a:t>data page</a:t>
            </a:r>
            <a:r>
              <a:rPr lang="zh-CN" altLang="en-US"/>
              <a:t>变更量远大于</a:t>
            </a:r>
            <a:r>
              <a:rPr lang="en-US" altLang="zh-CN"/>
              <a:t>redo</a:t>
            </a:r>
            <a:r>
              <a:rPr lang="zh-CN" altLang="en-US"/>
              <a:t>的数据量，通过规避写</a:t>
            </a:r>
            <a:r>
              <a:rPr lang="en-US" altLang="zh-CN"/>
              <a:t>data page</a:t>
            </a:r>
            <a:r>
              <a:rPr lang="zh-CN" altLang="en-US"/>
              <a:t>，达到减少网络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IO</a:t>
            </a:r>
            <a:r>
              <a:rPr lang="zh-CN" altLang="en-US"/>
              <a:t>的目标，具体的，计算节点只将</a:t>
            </a:r>
            <a:r>
              <a:rPr lang="en-US" altLang="zh-CN"/>
              <a:t>redo</a:t>
            </a:r>
            <a:r>
              <a:rPr lang="zh-CN" altLang="en-US"/>
              <a:t>写到存储层，由存储层负责从</a:t>
            </a:r>
            <a:r>
              <a:rPr lang="en-US" altLang="zh-CN"/>
              <a:t>redo</a:t>
            </a:r>
            <a:r>
              <a:rPr lang="zh-CN" altLang="en-US"/>
              <a:t>中构建出</a:t>
            </a:r>
            <a:r>
              <a:rPr lang="en-US" altLang="zh-CN"/>
              <a:t>data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page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400" y="1213540"/>
            <a:ext cx="10969200" cy="4759200"/>
          </a:xfrm>
        </p:spPr>
        <p:txBody>
          <a:bodyPr/>
          <a:p>
            <a:r>
              <a:rPr lang="en-US" altLang="zh-CN"/>
              <a:t>PolarDB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整体思路：本质是共享存储的思路，其存放了所有的</a:t>
            </a:r>
            <a:r>
              <a:rPr lang="en-US" altLang="zh-CN"/>
              <a:t>data page</a:t>
            </a:r>
            <a:r>
              <a:rPr lang="zh-CN" altLang="en-US"/>
              <a:t>和</a:t>
            </a:r>
            <a:r>
              <a:rPr lang="en-US" altLang="zh-CN"/>
              <a:t>Redo Log</a:t>
            </a:r>
            <a:r>
              <a:rPr lang="zh-CN" altLang="en-US"/>
              <a:t>，因为</a:t>
            </a:r>
            <a:r>
              <a:rPr lang="en-US" altLang="zh-CN"/>
              <a:t>data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page</a:t>
            </a:r>
            <a:r>
              <a:rPr lang="zh-CN" altLang="en-US"/>
              <a:t>需要写到共享存储，网络</a:t>
            </a:r>
            <a:r>
              <a:rPr lang="en-US" altLang="zh-CN"/>
              <a:t>IO</a:t>
            </a:r>
            <a:r>
              <a:rPr lang="zh-CN" altLang="en-US"/>
              <a:t>开销远大于</a:t>
            </a:r>
            <a:r>
              <a:rPr lang="en-US" altLang="zh-CN"/>
              <a:t>Aurora</a:t>
            </a:r>
            <a:r>
              <a:rPr lang="zh-CN" altLang="en-US"/>
              <a:t>，</a:t>
            </a:r>
            <a:r>
              <a:rPr lang="en-US" altLang="zh-CN"/>
              <a:t>PolarDB</a:t>
            </a:r>
            <a:r>
              <a:rPr lang="zh-CN" altLang="en-US"/>
              <a:t>引入了</a:t>
            </a:r>
            <a:r>
              <a:rPr lang="en-US" altLang="zh-CN"/>
              <a:t>RDMA</a:t>
            </a:r>
            <a:r>
              <a:rPr lang="zh-CN" altLang="en-US"/>
              <a:t>技术来优化这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个问题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计算层：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primary</a:t>
            </a:r>
            <a:r>
              <a:rPr lang="zh-CN" altLang="en-US"/>
              <a:t>节点，多个</a:t>
            </a:r>
            <a:r>
              <a:rPr lang="en-US" altLang="zh-CN"/>
              <a:t>replica</a:t>
            </a:r>
            <a:r>
              <a:rPr lang="zh-CN" altLang="en-US"/>
              <a:t>节点，写入数据时，</a:t>
            </a:r>
            <a:r>
              <a:rPr lang="en-US" altLang="zh-CN"/>
              <a:t>primary</a:t>
            </a:r>
            <a:r>
              <a:rPr lang="zh-CN" altLang="en-US"/>
              <a:t>节点将</a:t>
            </a:r>
            <a:r>
              <a:rPr lang="en-US" altLang="zh-CN"/>
              <a:t>data page</a:t>
            </a:r>
            <a:r>
              <a:rPr lang="zh-CN" altLang="en-US"/>
              <a:t>和</a:t>
            </a:r>
            <a:r>
              <a:rPr lang="en-US" altLang="zh-CN"/>
              <a:t>redo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写到存储</a:t>
            </a:r>
            <a:r>
              <a:rPr lang="en-US" altLang="zh-CN"/>
              <a:t>leader</a:t>
            </a:r>
            <a:r>
              <a:rPr lang="zh-CN" altLang="en-US"/>
              <a:t>，并会向</a:t>
            </a:r>
            <a:r>
              <a:rPr lang="en-US" altLang="zh-CN"/>
              <a:t>replica</a:t>
            </a:r>
            <a:r>
              <a:rPr lang="zh-CN" altLang="en-US"/>
              <a:t>节点同步状态变更，</a:t>
            </a:r>
            <a:r>
              <a:rPr lang="en-US" altLang="zh-CN"/>
              <a:t>replica</a:t>
            </a:r>
            <a:r>
              <a:rPr lang="zh-CN" altLang="en-US"/>
              <a:t>节点从存储节点中获取最新的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redo</a:t>
            </a:r>
            <a:r>
              <a:rPr lang="zh-CN" altLang="en-US"/>
              <a:t>，完成</a:t>
            </a:r>
            <a:r>
              <a:rPr lang="en-US" altLang="zh-CN"/>
              <a:t>buffer pool</a:t>
            </a:r>
            <a:r>
              <a:rPr lang="zh-CN" altLang="en-US"/>
              <a:t>中的数据更新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名词</a:t>
            </a:r>
            <a:r>
              <a:rPr lang="zh-CN" altLang="en-US"/>
              <a:t>说明</a:t>
            </a:r>
            <a:endParaRPr lang="zh-CN" altLang="en-US"/>
          </a:p>
        </p:txBody>
      </p:sp>
      <p:pic>
        <p:nvPicPr>
          <p:cNvPr id="4" name="图片 3" descr="截屏2025-11-25 15.49.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1490345"/>
            <a:ext cx="7518400" cy="4445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名词</a:t>
            </a:r>
            <a:r>
              <a:rPr lang="zh-CN" altLang="en-US"/>
              <a:t>说明</a:t>
            </a:r>
            <a:endParaRPr lang="zh-CN" altLang="en-US"/>
          </a:p>
        </p:txBody>
      </p:sp>
      <p:pic>
        <p:nvPicPr>
          <p:cNvPr id="4" name="内容占位符 3" descr="截屏2025-11-25 15.50.48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12340" y="1831340"/>
            <a:ext cx="7759700" cy="4076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名词</a:t>
            </a:r>
            <a:r>
              <a:rPr lang="zh-CN" altLang="en-US"/>
              <a:t>说明</a:t>
            </a:r>
            <a:endParaRPr lang="zh-CN" altLang="en-US"/>
          </a:p>
        </p:txBody>
      </p:sp>
      <p:pic>
        <p:nvPicPr>
          <p:cNvPr id="4" name="图片 3" descr="截屏2025-11-25 16.07.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644015"/>
            <a:ext cx="10934700" cy="4864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存算分离读</a:t>
            </a:r>
            <a:r>
              <a:rPr lang="zh-CN" altLang="en-US"/>
              <a:t>架构</a:t>
            </a:r>
            <a:endParaRPr lang="zh-CN" altLang="en-US"/>
          </a:p>
        </p:txBody>
      </p:sp>
      <p:pic>
        <p:nvPicPr>
          <p:cNvPr id="4" name="图片 3" descr="截屏2025-11-25 15.53.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0" y="1576705"/>
            <a:ext cx="7181850" cy="5003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52510" y="2117725"/>
            <a:ext cx="31978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master</a:t>
            </a:r>
            <a:r>
              <a:rPr lang="zh-CN" altLang="en-US"/>
              <a:t>和</a:t>
            </a:r>
            <a:r>
              <a:rPr lang="en-US" altLang="zh-CN"/>
              <a:t>slave </a:t>
            </a:r>
            <a:r>
              <a:rPr lang="zh-CN" altLang="en-US"/>
              <a:t>都可以处理读</a:t>
            </a:r>
            <a:r>
              <a:rPr lang="zh-CN" altLang="en-US"/>
              <a:t>请求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存算分离写</a:t>
            </a:r>
            <a:r>
              <a:rPr lang="zh-CN" altLang="en-US"/>
              <a:t>架构</a:t>
            </a:r>
            <a:endParaRPr lang="zh-CN" altLang="en-US"/>
          </a:p>
        </p:txBody>
      </p:sp>
      <p:pic>
        <p:nvPicPr>
          <p:cNvPr id="4" name="图片 3" descr="截屏2025-11-25 15.57.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1506220"/>
            <a:ext cx="6629400" cy="46189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94065" y="2011680"/>
            <a:ext cx="3456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只有</a:t>
            </a:r>
            <a:r>
              <a:rPr lang="en-US" altLang="zh-CN"/>
              <a:t>master</a:t>
            </a:r>
            <a:r>
              <a:rPr lang="zh-CN" altLang="en-US"/>
              <a:t>可以处理写</a:t>
            </a:r>
            <a:r>
              <a:rPr lang="zh-CN" altLang="en-US"/>
              <a:t>请求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计算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目标</a:t>
            </a:r>
            <a:r>
              <a:rPr lang="en-US" altLang="zh-CN"/>
              <a:t>: </a:t>
            </a:r>
            <a:r>
              <a:rPr lang="zh-CN" altLang="en-US"/>
              <a:t>用户接入层</a:t>
            </a:r>
            <a:r>
              <a:rPr lang="en-US" altLang="zh-CN"/>
              <a:t>, </a:t>
            </a:r>
            <a:r>
              <a:rPr lang="zh-CN" altLang="en-US"/>
              <a:t>主要承接用户的读写</a:t>
            </a:r>
            <a:r>
              <a:rPr lang="en-US" altLang="zh-CN"/>
              <a:t>SQL</a:t>
            </a:r>
            <a:r>
              <a:rPr lang="zh-CN" altLang="en-US"/>
              <a:t>请求</a:t>
            </a:r>
            <a:r>
              <a:rPr lang="en-US" altLang="zh-CN"/>
              <a:t>. </a:t>
            </a:r>
            <a:r>
              <a:rPr lang="zh-CN" altLang="en-US"/>
              <a:t>分为</a:t>
            </a:r>
            <a:r>
              <a:rPr lang="en-US" altLang="zh-CN"/>
              <a:t>2</a:t>
            </a:r>
            <a:r>
              <a:rPr lang="zh-CN" altLang="en-US"/>
              <a:t>个角色</a:t>
            </a:r>
            <a:r>
              <a:rPr lang="en-US" altLang="zh-CN"/>
              <a:t>, Master, Slave, </a:t>
            </a:r>
            <a:r>
              <a:rPr lang="zh-CN" altLang="en-US"/>
              <a:t>其中</a:t>
            </a:r>
            <a:r>
              <a:rPr lang="en-US" altLang="zh-CN"/>
              <a:t>Master </a:t>
            </a:r>
            <a:r>
              <a:rPr lang="zh-CN" altLang="en-US"/>
              <a:t>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责接收读写</a:t>
            </a:r>
            <a:r>
              <a:rPr lang="en-US" altLang="zh-CN"/>
              <a:t>, Slave </a:t>
            </a:r>
            <a:r>
              <a:rPr lang="zh-CN" altLang="en-US"/>
              <a:t>只负责接入读请求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Master</a:t>
            </a:r>
            <a:r>
              <a:rPr lang="zh-CN" altLang="en-US"/>
              <a:t>、</a:t>
            </a:r>
            <a:r>
              <a:rPr lang="en-US" altLang="zh-CN"/>
              <a:t>Slave </a:t>
            </a:r>
            <a:r>
              <a:rPr lang="zh-CN" altLang="en-US"/>
              <a:t>主从同步采用</a:t>
            </a:r>
            <a:r>
              <a:rPr lang="en-US" altLang="zh-CN"/>
              <a:t> Redo Log </a:t>
            </a:r>
            <a:r>
              <a:rPr lang="zh-CN" altLang="en-US"/>
              <a:t>同步</a:t>
            </a:r>
            <a:r>
              <a:rPr lang="en-US" altLang="zh-CN"/>
              <a:t>, </a:t>
            </a:r>
            <a:r>
              <a:rPr lang="zh-CN" altLang="en-US"/>
              <a:t>同步的方式采用异步复制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Slave </a:t>
            </a:r>
            <a:r>
              <a:rPr lang="zh-CN" altLang="en-US"/>
              <a:t>接收</a:t>
            </a:r>
            <a:r>
              <a:rPr lang="en-US" altLang="zh-CN"/>
              <a:t>Redo Log </a:t>
            </a:r>
            <a:r>
              <a:rPr lang="zh-CN" altLang="en-US"/>
              <a:t>并且</a:t>
            </a:r>
            <a:r>
              <a:rPr lang="en-US" altLang="zh-CN"/>
              <a:t>Apply </a:t>
            </a:r>
            <a:r>
              <a:rPr lang="zh-CN" altLang="en-US"/>
              <a:t>到对应的</a:t>
            </a:r>
            <a:r>
              <a:rPr lang="en-US" altLang="zh-CN"/>
              <a:t>Buffer Pool</a:t>
            </a:r>
            <a:r>
              <a:rPr lang="zh-CN" altLang="en-US"/>
              <a:t>中</a:t>
            </a:r>
            <a:r>
              <a:rPr lang="en-US" altLang="zh-CN"/>
              <a:t>.</a:t>
            </a:r>
            <a:endParaRPr lang="en-US" altLang="zh-CN"/>
          </a:p>
        </p:txBody>
      </p:sp>
      <p:pic>
        <p:nvPicPr>
          <p:cNvPr id="4" name="图片 3" descr="截屏2025-11-25 16.02.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845" y="3505835"/>
            <a:ext cx="7306310" cy="32327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计算机层的</a:t>
            </a:r>
            <a:r>
              <a:rPr lang="zh-CN" altLang="en-US"/>
              <a:t>关键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Redolog </a:t>
            </a:r>
            <a:r>
              <a:rPr lang="zh-CN" altLang="en-US"/>
              <a:t>复制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Redo Log </a:t>
            </a:r>
            <a:r>
              <a:rPr lang="zh-CN" altLang="en-US"/>
              <a:t>传输主要在</a:t>
            </a:r>
            <a:r>
              <a:rPr lang="en-US" altLang="zh-CN"/>
              <a:t> Master </a:t>
            </a:r>
            <a:r>
              <a:rPr lang="zh-CN" altLang="en-US"/>
              <a:t>与</a:t>
            </a:r>
            <a:r>
              <a:rPr lang="en-US" altLang="zh-CN"/>
              <a:t> Slave </a:t>
            </a:r>
            <a:r>
              <a:rPr lang="zh-CN" altLang="en-US"/>
              <a:t>之间以及</a:t>
            </a:r>
            <a:r>
              <a:rPr lang="en-US" altLang="zh-CN"/>
              <a:t>Master </a:t>
            </a:r>
            <a:r>
              <a:rPr lang="zh-CN" altLang="en-US"/>
              <a:t>与</a:t>
            </a:r>
            <a:r>
              <a:rPr lang="en-US" altLang="zh-CN"/>
              <a:t> Page Server </a:t>
            </a:r>
            <a:r>
              <a:rPr lang="zh-CN" altLang="en-US"/>
              <a:t>之间传输</a:t>
            </a:r>
            <a:r>
              <a:rPr lang="en-US" altLang="zh-CN"/>
              <a:t>.</a:t>
            </a:r>
            <a:endParaRPr lang="en-US" altLang="zh-CN"/>
          </a:p>
          <a:p>
            <a:r>
              <a:rPr lang="en-US" altLang="zh-CN"/>
              <a:t>Binlog in Redo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Binlog In Redo </a:t>
            </a:r>
            <a:r>
              <a:rPr lang="zh-CN" altLang="en-US"/>
              <a:t>是将</a:t>
            </a:r>
            <a:r>
              <a:rPr lang="en-US" altLang="zh-CN"/>
              <a:t>Binlog </a:t>
            </a:r>
            <a:r>
              <a:rPr lang="zh-CN" altLang="en-US"/>
              <a:t>写入</a:t>
            </a:r>
            <a:r>
              <a:rPr lang="en-US" altLang="zh-CN"/>
              <a:t>Innodb Redo Log </a:t>
            </a:r>
            <a:r>
              <a:rPr lang="zh-CN" altLang="en-US"/>
              <a:t>当中</a:t>
            </a:r>
            <a:r>
              <a:rPr lang="en-US" altLang="zh-CN"/>
              <a:t>. Binlog In Redo</a:t>
            </a:r>
            <a:r>
              <a:rPr lang="zh-CN" altLang="en-US"/>
              <a:t>功能在不损失可靠性的前提下，减少了</a:t>
            </a:r>
            <a:r>
              <a:rPr lang="en-US" altLang="zh-CN"/>
              <a:t>1</a:t>
            </a:r>
            <a:r>
              <a:rPr lang="zh-CN" altLang="en-US"/>
              <a:t>次存储</a:t>
            </a:r>
            <a:r>
              <a:rPr lang="en-US" altLang="zh-CN"/>
              <a:t>IO.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存储管理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目标</a:t>
            </a:r>
            <a:r>
              <a:rPr lang="en-US" altLang="zh-CN"/>
              <a:t>: page server </a:t>
            </a:r>
            <a:r>
              <a:rPr lang="zh-CN" altLang="en-US"/>
              <a:t>主要承载</a:t>
            </a:r>
            <a:r>
              <a:rPr lang="en-US" altLang="zh-CN"/>
              <a:t>Redo Log </a:t>
            </a:r>
            <a:r>
              <a:rPr lang="zh-CN" altLang="en-US"/>
              <a:t>日志的</a:t>
            </a:r>
            <a:r>
              <a:rPr lang="en-US" altLang="zh-CN"/>
              <a:t>Apply, </a:t>
            </a:r>
            <a:r>
              <a:rPr lang="zh-CN" altLang="en-US"/>
              <a:t>构建</a:t>
            </a:r>
            <a:r>
              <a:rPr lang="en-US" altLang="zh-CN"/>
              <a:t>Page </a:t>
            </a:r>
            <a:r>
              <a:rPr lang="zh-CN" altLang="en-US"/>
              <a:t>的版本链表</a:t>
            </a:r>
            <a:r>
              <a:rPr lang="en-US" altLang="zh-CN"/>
              <a:t>, </a:t>
            </a:r>
            <a:r>
              <a:rPr lang="zh-CN" altLang="en-US"/>
              <a:t>对</a:t>
            </a:r>
            <a:r>
              <a:rPr lang="en-US" altLang="zh-CN"/>
              <a:t>Master, Slave </a:t>
            </a:r>
            <a:r>
              <a:rPr lang="zh-CN" altLang="en-US"/>
              <a:t>提供读写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 descr="截屏2025-11-26 00.36.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110" y="2058035"/>
            <a:ext cx="6368415" cy="4038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Redolog</a:t>
            </a:r>
            <a:r>
              <a:rPr lang="zh-CN" altLang="en-US"/>
              <a:t>改造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目标</a:t>
            </a:r>
            <a:r>
              <a:rPr lang="en-US" altLang="zh-CN"/>
              <a:t>: </a:t>
            </a:r>
            <a:r>
              <a:rPr lang="zh-CN" altLang="en-US"/>
              <a:t>存算分离的情况下</a:t>
            </a:r>
            <a:r>
              <a:rPr lang="en-US" altLang="zh-CN"/>
              <a:t>, </a:t>
            </a:r>
            <a:r>
              <a:rPr lang="zh-CN" altLang="en-US"/>
              <a:t>我们需要保留老的</a:t>
            </a:r>
            <a:r>
              <a:rPr lang="en-US" altLang="zh-CN"/>
              <a:t>Redo Log </a:t>
            </a:r>
            <a:r>
              <a:rPr lang="zh-CN" altLang="en-US"/>
              <a:t>文件</a:t>
            </a:r>
            <a:r>
              <a:rPr lang="en-US" altLang="zh-CN"/>
              <a:t>, </a:t>
            </a:r>
            <a:r>
              <a:rPr lang="zh-CN" altLang="en-US"/>
              <a:t>防止网络出现问题日志未能够及时发送到</a:t>
            </a:r>
            <a:r>
              <a:rPr lang="en-US" altLang="zh-CN"/>
              <a:t>Slave </a:t>
            </a:r>
            <a:r>
              <a:rPr lang="zh-CN" altLang="en-US"/>
              <a:t>也用于日志的数据备份</a:t>
            </a:r>
            <a:r>
              <a:rPr lang="en-US" altLang="zh-CN"/>
              <a:t>, </a:t>
            </a:r>
            <a:r>
              <a:rPr lang="zh-CN" altLang="en-US"/>
              <a:t>因此我们将</a:t>
            </a:r>
            <a:r>
              <a:rPr lang="en-US" altLang="zh-CN"/>
              <a:t>Redo Log</a:t>
            </a:r>
            <a:r>
              <a:rPr lang="zh-CN" altLang="en-US"/>
              <a:t>的写由循环写</a:t>
            </a:r>
            <a:r>
              <a:rPr lang="en-US" altLang="zh-CN"/>
              <a:t> </a:t>
            </a:r>
            <a:r>
              <a:rPr lang="zh-CN" altLang="en-US"/>
              <a:t>改成</a:t>
            </a:r>
            <a:r>
              <a:rPr lang="en-US" altLang="zh-CN"/>
              <a:t> </a:t>
            </a:r>
            <a:r>
              <a:rPr lang="zh-CN" altLang="en-US"/>
              <a:t>顺序写</a:t>
            </a:r>
            <a:r>
              <a:rPr lang="en-US" altLang="zh-CN"/>
              <a:t>: </a:t>
            </a:r>
            <a:r>
              <a:rPr lang="zh-CN" altLang="en-US"/>
              <a:t>当当前日志文件写满时，则切换到下一个日志文件，文件的序号总是向前递增的</a:t>
            </a:r>
            <a:r>
              <a:rPr lang="en-US" altLang="zh-CN"/>
              <a:t>.</a:t>
            </a:r>
            <a:endParaRPr lang="en-US" altLang="zh-CN"/>
          </a:p>
        </p:txBody>
      </p:sp>
      <p:pic>
        <p:nvPicPr>
          <p:cNvPr id="4" name="图片 3" descr="截屏2025-11-26 00.40.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425" y="2894330"/>
            <a:ext cx="7670800" cy="3225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Redolog</a:t>
            </a:r>
            <a:r>
              <a:rPr lang="zh-CN" altLang="en-US"/>
              <a:t>改造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目标</a:t>
            </a:r>
            <a:r>
              <a:rPr lang="en-US" altLang="zh-CN"/>
              <a:t>: </a:t>
            </a:r>
            <a:r>
              <a:rPr lang="zh-CN" altLang="en-US"/>
              <a:t>原生</a:t>
            </a:r>
            <a:r>
              <a:rPr lang="en-US" altLang="zh-CN"/>
              <a:t>MySQL Redo Log</a:t>
            </a:r>
            <a:r>
              <a:rPr lang="zh-CN" altLang="en-US"/>
              <a:t>日志并未记录文件操作</a:t>
            </a:r>
            <a:r>
              <a:rPr lang="en-US" altLang="zh-CN"/>
              <a:t>(</a:t>
            </a:r>
            <a:r>
              <a:rPr lang="zh-CN" altLang="en-US"/>
              <a:t>包括</a:t>
            </a:r>
            <a:r>
              <a:rPr lang="en-US" altLang="zh-CN"/>
              <a:t>: Create, Alter, Delete) </a:t>
            </a:r>
            <a:r>
              <a:rPr lang="zh-CN" altLang="en-US"/>
              <a:t>，导致</a:t>
            </a:r>
            <a:r>
              <a:rPr lang="en-US" altLang="zh-CN"/>
              <a:t>slave</a:t>
            </a:r>
            <a:r>
              <a:rPr lang="zh-CN" altLang="en-US"/>
              <a:t>无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法感知到</a:t>
            </a:r>
            <a:r>
              <a:rPr lang="en-US" altLang="zh-CN"/>
              <a:t>ibd </a:t>
            </a:r>
            <a:r>
              <a:rPr lang="zh-CN" altLang="en-US"/>
              <a:t>文件变化，因此</a:t>
            </a:r>
            <a:r>
              <a:rPr lang="en-US" altLang="zh-CN"/>
              <a:t> Redo Log </a:t>
            </a:r>
            <a:r>
              <a:rPr lang="zh-CN" altLang="en-US"/>
              <a:t>需要增加日志类型记录关于文件的操作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新增类型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Create Table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Alter Table</a:t>
            </a:r>
            <a:r>
              <a:rPr lang="zh-CN" altLang="en-US"/>
              <a:t>（</a:t>
            </a:r>
            <a:r>
              <a:rPr lang="en-US" altLang="zh-CN"/>
              <a:t>Rename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ALTER TABLE ... CHARACTER SET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Drop Table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Alter Table</a:t>
            </a:r>
            <a:r>
              <a:rPr lang="zh-CN" altLang="en-US"/>
              <a:t>（</a:t>
            </a:r>
            <a:r>
              <a:rPr lang="en-US" altLang="zh-CN"/>
              <a:t>RENAME COLUMN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Redolog</a:t>
            </a:r>
            <a:r>
              <a:rPr lang="zh-CN" altLang="en-US"/>
              <a:t>改造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增加事务</a:t>
            </a:r>
            <a:r>
              <a:rPr lang="zh-CN" altLang="en-US"/>
              <a:t>标记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目标</a:t>
            </a:r>
            <a:r>
              <a:rPr lang="en-US" altLang="zh-CN"/>
              <a:t>: slave</a:t>
            </a:r>
            <a:r>
              <a:rPr lang="zh-CN" altLang="en-US"/>
              <a:t>在回放</a:t>
            </a:r>
            <a:r>
              <a:rPr lang="en-US" altLang="zh-CN"/>
              <a:t>Redo Log </a:t>
            </a:r>
            <a:r>
              <a:rPr lang="zh-CN" altLang="en-US"/>
              <a:t>过程中同时需要构建</a:t>
            </a:r>
            <a:r>
              <a:rPr lang="en-US" altLang="zh-CN"/>
              <a:t>SQL layer </a:t>
            </a:r>
            <a:r>
              <a:rPr lang="zh-CN" altLang="en-US"/>
              <a:t>层的</a:t>
            </a:r>
            <a:r>
              <a:rPr lang="en-US" altLang="zh-CN"/>
              <a:t>read view </a:t>
            </a:r>
            <a:r>
              <a:rPr lang="zh-CN" altLang="en-US"/>
              <a:t>，因此需要记录</a:t>
            </a:r>
            <a:r>
              <a:rPr lang="en-US" altLang="zh-CN"/>
              <a:t>Trx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id, </a:t>
            </a:r>
            <a:r>
              <a:rPr lang="zh-CN" altLang="en-US"/>
              <a:t>构造全局的</a:t>
            </a:r>
            <a:r>
              <a:rPr lang="en-US" altLang="zh-CN"/>
              <a:t>read view, </a:t>
            </a:r>
            <a:r>
              <a:rPr lang="zh-CN" altLang="en-US"/>
              <a:t>将全局的</a:t>
            </a:r>
            <a:r>
              <a:rPr lang="en-US" altLang="zh-CN"/>
              <a:t>active trx id list </a:t>
            </a:r>
            <a:r>
              <a:rPr lang="zh-CN" altLang="en-US"/>
              <a:t>直接记录到</a:t>
            </a:r>
            <a:r>
              <a:rPr lang="en-US" altLang="zh-CN"/>
              <a:t>Redo Log </a:t>
            </a:r>
            <a:r>
              <a:rPr lang="zh-CN" altLang="en-US"/>
              <a:t>当中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Redolog</a:t>
            </a:r>
            <a:r>
              <a:rPr lang="zh-CN" altLang="en-US"/>
              <a:t>改造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增加</a:t>
            </a:r>
            <a:r>
              <a:rPr lang="en-US" altLang="zh-CN"/>
              <a:t>Redo log GC </a:t>
            </a:r>
            <a:r>
              <a:rPr lang="zh-CN" altLang="en-US"/>
              <a:t>目标</a:t>
            </a:r>
            <a:r>
              <a:rPr lang="en-US" altLang="zh-CN"/>
              <a:t>: </a:t>
            </a:r>
            <a:r>
              <a:rPr lang="zh-CN" altLang="en-US"/>
              <a:t>顺序的</a:t>
            </a:r>
            <a:r>
              <a:rPr lang="en-US" altLang="zh-CN"/>
              <a:t>Redo Log </a:t>
            </a:r>
            <a:r>
              <a:rPr lang="zh-CN" altLang="en-US"/>
              <a:t>日志长时间占据大量的磁盘空间，需要定时根据</a:t>
            </a:r>
            <a:r>
              <a:rPr lang="en-US" altLang="zh-CN"/>
              <a:t> LSN </a:t>
            </a:r>
            <a:r>
              <a:rPr lang="zh-CN" altLang="en-US"/>
              <a:t>关系清理</a:t>
            </a:r>
            <a:r>
              <a:rPr lang="en-US" altLang="zh-CN"/>
              <a:t> </a:t>
            </a:r>
            <a:r>
              <a:rPr lang="zh-CN" altLang="en-US"/>
              <a:t>历史的</a:t>
            </a:r>
            <a:r>
              <a:rPr lang="en-US" altLang="zh-CN"/>
              <a:t>Redo Log</a:t>
            </a:r>
            <a:endParaRPr lang="en-US" altLang="zh-CN"/>
          </a:p>
          <a:p>
            <a:r>
              <a:rPr lang="zh-CN" altLang="en-US"/>
              <a:t>如果</a:t>
            </a:r>
            <a:r>
              <a:rPr lang="en-US" altLang="zh-CN"/>
              <a:t>slave</a:t>
            </a:r>
            <a:r>
              <a:rPr lang="zh-CN" altLang="en-US"/>
              <a:t>落后比较大，会被剔除出复制</a:t>
            </a:r>
            <a:endParaRPr lang="zh-CN" altLang="en-US"/>
          </a:p>
          <a:p>
            <a:r>
              <a:rPr lang="zh-CN" altLang="en-US"/>
              <a:t>定时器根据时间策略和当前的</a:t>
            </a:r>
            <a:r>
              <a:rPr lang="en-US" altLang="zh-CN"/>
              <a:t>checkpoint</a:t>
            </a:r>
            <a:r>
              <a:rPr lang="zh-CN" altLang="en-US"/>
              <a:t>进行</a:t>
            </a:r>
            <a:r>
              <a:rPr lang="en-US" altLang="zh-CN"/>
              <a:t>Redo Log</a:t>
            </a:r>
            <a:r>
              <a:rPr lang="zh-CN" altLang="en-US"/>
              <a:t>的清理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 descr="截屏2025-11-26 00.50.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00" y="3314700"/>
            <a:ext cx="7670800" cy="3543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1725</Words>
  <Application>WPS 文字</Application>
  <PresentationFormat>宽屏</PresentationFormat>
  <Paragraphs>101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关于分布式关系型数据库存算分离架构的研究</vt:lpstr>
      <vt:lpstr>背景</vt:lpstr>
      <vt:lpstr>调研</vt:lpstr>
      <vt:lpstr>PowerPoint 演示文稿</vt:lpstr>
      <vt:lpstr>名词说明</vt:lpstr>
      <vt:lpstr>名词说明</vt:lpstr>
      <vt:lpstr>名词说明</vt:lpstr>
      <vt:lpstr>存算分离读架构</vt:lpstr>
      <vt:lpstr>存算分离写架构</vt:lpstr>
      <vt:lpstr>计算层</vt:lpstr>
      <vt:lpstr>计算机层的关键</vt:lpstr>
      <vt:lpstr>存储管理层</vt:lpstr>
      <vt:lpstr>Redolog改造</vt:lpstr>
      <vt:lpstr>Redolog改造</vt:lpstr>
      <vt:lpstr>Redolog改造</vt:lpstr>
      <vt:lpstr>Redolog改造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谢宝玛</cp:lastModifiedBy>
  <cp:revision>167</cp:revision>
  <dcterms:created xsi:type="dcterms:W3CDTF">2025-11-27T02:55:11Z</dcterms:created>
  <dcterms:modified xsi:type="dcterms:W3CDTF">2025-11-27T02:55:11Z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CAF865466654F837D354256947222A81_41</vt:lpwstr>
  </property>
</Properties>
</file>